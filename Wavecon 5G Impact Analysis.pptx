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9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2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4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4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9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8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8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1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2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01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739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19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9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659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51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6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E0CCB-176A-4252-8FE0-E2A3BE61CDC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09364-7572-40EB-BB44-7E249B9F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44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607249"/>
            <a:ext cx="9448800" cy="167648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Wavecon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5G</a:t>
            </a:r>
            <a:b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Analysis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912" y="416092"/>
            <a:ext cx="527649" cy="527649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pic>
        <p:nvPicPr>
          <p:cNvPr id="7" name="Picture 6" descr="A money bag and stack of coins&#10;&#10;AI-generated content may be incorrect.">
            <a:extLst>
              <a:ext uri="{FF2B5EF4-FFF2-40B4-BE49-F238E27FC236}">
                <a16:creationId xmlns:a16="http://schemas.microsoft.com/office/drawing/2014/main" id="{A1E15C3C-DBAD-3155-F198-2BA035571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203" y="5323827"/>
            <a:ext cx="774622" cy="774622"/>
          </a:xfrm>
          <a:prstGeom prst="rect">
            <a:avLst/>
          </a:prstGeom>
        </p:spPr>
      </p:pic>
      <p:pic>
        <p:nvPicPr>
          <p:cNvPr id="9" name="Picture 8" descr="A colorful bar graph with a arrow pointing up&#10;&#10;AI-generated content may be incorrect.">
            <a:extLst>
              <a:ext uri="{FF2B5EF4-FFF2-40B4-BE49-F238E27FC236}">
                <a16:creationId xmlns:a16="http://schemas.microsoft.com/office/drawing/2014/main" id="{2AF9752C-A143-0E23-E47C-664A0ADFD3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641" y="5321209"/>
            <a:ext cx="777240" cy="777240"/>
          </a:xfrm>
          <a:prstGeom prst="rect">
            <a:avLst/>
          </a:prstGeom>
        </p:spPr>
      </p:pic>
      <p:pic>
        <p:nvPicPr>
          <p:cNvPr id="11" name="Picture 10" descr="A cell phone with a sim card&#10;&#10;AI-generated content may be incorrect.">
            <a:extLst>
              <a:ext uri="{FF2B5EF4-FFF2-40B4-BE49-F238E27FC236}">
                <a16:creationId xmlns:a16="http://schemas.microsoft.com/office/drawing/2014/main" id="{EB5C34B5-BD6C-DCEE-6547-66472CBBBB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10" y="5298461"/>
            <a:ext cx="777240" cy="777240"/>
          </a:xfrm>
          <a:prstGeom prst="rect">
            <a:avLst/>
          </a:prstGeom>
        </p:spPr>
      </p:pic>
      <p:pic>
        <p:nvPicPr>
          <p:cNvPr id="13" name="Picture 12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385F3EE1-05CE-FD22-349F-981E1C393F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966" y="5248004"/>
            <a:ext cx="777240" cy="7772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683865-1E21-DD59-4771-61BDCF28418E}"/>
              </a:ext>
            </a:extLst>
          </p:cNvPr>
          <p:cNvSpPr txBox="1"/>
          <p:nvPr/>
        </p:nvSpPr>
        <p:spPr>
          <a:xfrm>
            <a:off x="1678385" y="6250751"/>
            <a:ext cx="134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alibri (Body)"/>
              </a:rPr>
              <a:t>REVENUE</a:t>
            </a:r>
            <a:endParaRPr lang="en-US" b="1" dirty="0">
              <a:latin typeface="Calibri (Body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4EE72-2D0D-BE4B-12C2-F41941A5109B}"/>
              </a:ext>
            </a:extLst>
          </p:cNvPr>
          <p:cNvSpPr txBox="1"/>
          <p:nvPr/>
        </p:nvSpPr>
        <p:spPr>
          <a:xfrm>
            <a:off x="4169441" y="6250751"/>
            <a:ext cx="134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alibri (Body)"/>
              </a:rPr>
              <a:t>KPIs</a:t>
            </a:r>
            <a:endParaRPr lang="en-US" b="1" dirty="0">
              <a:latin typeface="Calibri (Body)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C49E4C-26A5-61DB-E0EA-D24577CDA794}"/>
              </a:ext>
            </a:extLst>
          </p:cNvPr>
          <p:cNvSpPr txBox="1"/>
          <p:nvPr/>
        </p:nvSpPr>
        <p:spPr>
          <a:xfrm>
            <a:off x="6660497" y="6250751"/>
            <a:ext cx="134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alibri (Body)"/>
              </a:rPr>
              <a:t>PLAN</a:t>
            </a:r>
            <a:endParaRPr lang="en-US" b="1" dirty="0">
              <a:latin typeface="Calibri (Body)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85CE74-3072-CD00-DE69-45F7D75CF5E6}"/>
              </a:ext>
            </a:extLst>
          </p:cNvPr>
          <p:cNvSpPr txBox="1"/>
          <p:nvPr/>
        </p:nvSpPr>
        <p:spPr>
          <a:xfrm>
            <a:off x="9151553" y="6250751"/>
            <a:ext cx="134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alibri (Body)"/>
              </a:rPr>
              <a:t>STRATEGY</a:t>
            </a:r>
            <a:endParaRPr lang="en-US" b="1" dirty="0">
              <a:latin typeface="Calibri (Body)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5B50B4-A47C-423D-0BC3-0B8DE22A609C}"/>
              </a:ext>
            </a:extLst>
          </p:cNvPr>
          <p:cNvSpPr txBox="1"/>
          <p:nvPr/>
        </p:nvSpPr>
        <p:spPr>
          <a:xfrm>
            <a:off x="2252890" y="2657408"/>
            <a:ext cx="82297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</a:rPr>
              <a:t>5G launch has reshaped Wavecon’s performance landscape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</a:rPr>
              <a:t>This deck highlights </a:t>
            </a:r>
            <a:r>
              <a:rPr lang="en-GB" b="1" dirty="0">
                <a:latin typeface="Calibri (Body)"/>
              </a:rPr>
              <a:t>revenue impact, KPI shifts, and plan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Provides </a:t>
            </a:r>
            <a:r>
              <a:rPr lang="en-US" b="1" dirty="0">
                <a:latin typeface="Calibri (Body)"/>
              </a:rPr>
              <a:t>recommendations</a:t>
            </a:r>
            <a:r>
              <a:rPr lang="en-US" dirty="0">
                <a:latin typeface="Calibri (Body)"/>
              </a:rPr>
              <a:t> for plan continuation, redesign, or discontinuation</a:t>
            </a:r>
          </a:p>
          <a:p>
            <a:endParaRPr lang="en-GB" b="1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Objective</a:t>
            </a:r>
            <a:r>
              <a:rPr lang="en-GB" dirty="0">
                <a:latin typeface="Calibri (Body)"/>
              </a:rPr>
              <a:t>: Enable </a:t>
            </a:r>
            <a:r>
              <a:rPr lang="en-GB" b="1" dirty="0">
                <a:latin typeface="Calibri (Body)"/>
              </a:rPr>
              <a:t>data‑driven decisions</a:t>
            </a:r>
            <a:r>
              <a:rPr lang="en-GB" dirty="0">
                <a:latin typeface="Calibri (Body)"/>
              </a:rPr>
              <a:t> for sustainable growth</a:t>
            </a:r>
            <a:endParaRPr lang="en-US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19912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33526"/>
            <a:ext cx="9448800" cy="9517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 (Body)"/>
              </a:rPr>
              <a:t>Key Insights Post- </a:t>
            </a:r>
            <a:r>
              <a:rPr lang="en-US" b="1" dirty="0">
                <a:solidFill>
                  <a:srgbClr val="FF0000"/>
                </a:solidFill>
                <a:latin typeface="Calibri (Body)"/>
              </a:rPr>
              <a:t>5G</a:t>
            </a:r>
            <a:r>
              <a:rPr lang="en-US" b="1" dirty="0">
                <a:latin typeface="Calibri (Body)"/>
              </a:rPr>
              <a:t> Launch</a:t>
            </a:r>
            <a:endParaRPr lang="en-US" b="1" dirty="0"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372" y="869701"/>
            <a:ext cx="527649" cy="527649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8330FA-CB92-4F12-E5AB-82D32B73476B}"/>
              </a:ext>
            </a:extLst>
          </p:cNvPr>
          <p:cNvSpPr txBox="1"/>
          <p:nvPr/>
        </p:nvSpPr>
        <p:spPr>
          <a:xfrm>
            <a:off x="546185" y="2567309"/>
            <a:ext cx="1858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Calibri (Body)"/>
              </a:rPr>
              <a:t>ARPU vs Revenue</a:t>
            </a:r>
            <a:endParaRPr lang="en-US" b="1" u="sng" dirty="0">
              <a:latin typeface="Calibri (Body)"/>
            </a:endParaRPr>
          </a:p>
        </p:txBody>
      </p:sp>
      <p:pic>
        <p:nvPicPr>
          <p:cNvPr id="20" name="Picture 19" descr="A colorful bar graph with a arrow pointing up">
            <a:extLst>
              <a:ext uri="{FF2B5EF4-FFF2-40B4-BE49-F238E27FC236}">
                <a16:creationId xmlns:a16="http://schemas.microsoft.com/office/drawing/2014/main" id="{6A8B214B-3234-5C78-F396-7B21AAE5E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04" y="2567309"/>
            <a:ext cx="350981" cy="3509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B66389A-618E-7426-016D-CDD5CEDBDD7A}"/>
              </a:ext>
            </a:extLst>
          </p:cNvPr>
          <p:cNvSpPr txBox="1"/>
          <p:nvPr/>
        </p:nvSpPr>
        <p:spPr>
          <a:xfrm>
            <a:off x="3052266" y="2579011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Calibri (Body)"/>
              </a:rPr>
              <a:t>User Churn</a:t>
            </a:r>
            <a:endParaRPr lang="en-US" b="1" u="sng" dirty="0">
              <a:latin typeface="Calibri (Body)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7F8B0-BDE4-6EAC-EC38-5F286E407774}"/>
              </a:ext>
            </a:extLst>
          </p:cNvPr>
          <p:cNvSpPr txBox="1"/>
          <p:nvPr/>
        </p:nvSpPr>
        <p:spPr>
          <a:xfrm>
            <a:off x="7336214" y="2579011"/>
            <a:ext cx="188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Calibri (Body)"/>
              </a:rPr>
              <a:t>Plan Performance</a:t>
            </a:r>
            <a:endParaRPr lang="en-US" b="1" u="sng" dirty="0">
              <a:latin typeface="Calibri (Body)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0CABBB-A1DF-46A8-73FD-09452B8A27C9}"/>
              </a:ext>
            </a:extLst>
          </p:cNvPr>
          <p:cNvSpPr txBox="1"/>
          <p:nvPr/>
        </p:nvSpPr>
        <p:spPr>
          <a:xfrm>
            <a:off x="9866533" y="2448657"/>
            <a:ext cx="17752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u="sng" dirty="0">
                <a:latin typeface="Calibri (Body)"/>
              </a:rPr>
              <a:t>Strategic </a:t>
            </a:r>
          </a:p>
          <a:p>
            <a:pPr algn="ctr"/>
            <a:r>
              <a:rPr lang="en-US" sz="1600" b="1" u="sng" dirty="0">
                <a:latin typeface="Calibri (Body)"/>
              </a:rPr>
              <a:t>Recommendations</a:t>
            </a:r>
          </a:p>
        </p:txBody>
      </p:sp>
      <p:pic>
        <p:nvPicPr>
          <p:cNvPr id="25" name="Picture 24" descr="A map with red pin pointers&#10;&#10;AI-generated content may be incorrect.">
            <a:extLst>
              <a:ext uri="{FF2B5EF4-FFF2-40B4-BE49-F238E27FC236}">
                <a16:creationId xmlns:a16="http://schemas.microsoft.com/office/drawing/2014/main" id="{F2940D35-1276-9FC3-890C-361749D429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849" y="2569613"/>
            <a:ext cx="347472" cy="347472"/>
          </a:xfrm>
          <a:prstGeom prst="rect">
            <a:avLst/>
          </a:prstGeom>
        </p:spPr>
      </p:pic>
      <p:pic>
        <p:nvPicPr>
          <p:cNvPr id="27" name="Picture 26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ECCC4C3A-173C-61D1-2494-9E08C2E25E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995" y="2551938"/>
            <a:ext cx="347472" cy="347472"/>
          </a:xfrm>
          <a:prstGeom prst="rect">
            <a:avLst/>
          </a:prstGeom>
        </p:spPr>
      </p:pic>
      <p:pic>
        <p:nvPicPr>
          <p:cNvPr id="29" name="Picture 28" descr="A group of people with their faces in the background&#10;&#10;AI-generated content may be incorrect.">
            <a:extLst>
              <a:ext uri="{FF2B5EF4-FFF2-40B4-BE49-F238E27FC236}">
                <a16:creationId xmlns:a16="http://schemas.microsoft.com/office/drawing/2014/main" id="{A7ECDA95-2CC2-0E3E-09CE-0AFFC7DF61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339" y="2567309"/>
            <a:ext cx="347472" cy="34747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D411DEF-1E87-FF9D-9E5A-73A7499DE064}"/>
              </a:ext>
            </a:extLst>
          </p:cNvPr>
          <p:cNvSpPr txBox="1"/>
          <p:nvPr/>
        </p:nvSpPr>
        <p:spPr>
          <a:xfrm>
            <a:off x="195205" y="3036736"/>
            <a:ext cx="213392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alibri (Body)"/>
              </a:rPr>
              <a:t>ARPU Surge Despite </a:t>
            </a:r>
          </a:p>
          <a:p>
            <a:pPr algn="ctr"/>
            <a:r>
              <a:rPr lang="en-GB" sz="1600" b="1" dirty="0">
                <a:latin typeface="Calibri (Body)"/>
              </a:rPr>
              <a:t>Revenue Dip</a:t>
            </a:r>
            <a:r>
              <a:rPr lang="en-GB" sz="1600" dirty="0">
                <a:latin typeface="Calibri (Body)"/>
              </a:rPr>
              <a:t> </a:t>
            </a:r>
          </a:p>
          <a:p>
            <a:pPr algn="ctr"/>
            <a:endParaRPr lang="en-GB" sz="1600" dirty="0">
              <a:latin typeface="Calibri (Body)"/>
            </a:endParaRPr>
          </a:p>
          <a:p>
            <a:pPr algn="ctr"/>
            <a:r>
              <a:rPr lang="en-GB" sz="1400" dirty="0">
                <a:latin typeface="Calibri (Body)"/>
              </a:rPr>
              <a:t>Average Revenue Per User increased by </a:t>
            </a:r>
            <a:r>
              <a:rPr lang="en-GB" sz="1400" b="1" dirty="0">
                <a:latin typeface="Calibri (Body)"/>
              </a:rPr>
              <a:t>11.05%</a:t>
            </a:r>
            <a:r>
              <a:rPr lang="en-GB" sz="1400" dirty="0">
                <a:latin typeface="Calibri (Body)"/>
              </a:rPr>
              <a:t>, but total revenue declined by </a:t>
            </a:r>
            <a:r>
              <a:rPr lang="en-GB" sz="1400" b="1" dirty="0">
                <a:latin typeface="Calibri (Body)"/>
              </a:rPr>
              <a:t>-0.50%</a:t>
            </a:r>
            <a:r>
              <a:rPr lang="en-GB" sz="1400" dirty="0">
                <a:latin typeface="Calibri (Body)"/>
              </a:rPr>
              <a:t>, indicating user churn offset gains.</a:t>
            </a:r>
            <a:endParaRPr lang="en-US" sz="1400" dirty="0">
              <a:latin typeface="Calibri (Body)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64C003-A7B9-FAF7-2E35-41E93CDE534A}"/>
              </a:ext>
            </a:extLst>
          </p:cNvPr>
          <p:cNvSpPr txBox="1"/>
          <p:nvPr/>
        </p:nvSpPr>
        <p:spPr>
          <a:xfrm>
            <a:off x="2422926" y="3043690"/>
            <a:ext cx="221550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alibri (Body)"/>
              </a:rPr>
              <a:t>Active Users Dropped by 8.28%</a:t>
            </a:r>
          </a:p>
          <a:p>
            <a:pPr algn="ctr"/>
            <a:endParaRPr lang="en-GB" sz="1600" b="1" dirty="0">
              <a:latin typeface="Calibri (Body)"/>
            </a:endParaRPr>
          </a:p>
          <a:p>
            <a:pPr algn="ctr"/>
            <a:r>
              <a:rPr lang="en-GB" sz="1400" dirty="0">
                <a:latin typeface="Calibri (Body)"/>
              </a:rPr>
              <a:t>Total Active Users fell from </a:t>
            </a:r>
            <a:r>
              <a:rPr lang="en-GB" sz="1400" b="1" dirty="0">
                <a:latin typeface="Calibri (Body)"/>
              </a:rPr>
              <a:t>84.4M to 77.4M</a:t>
            </a:r>
            <a:r>
              <a:rPr lang="en-GB" sz="1400" dirty="0">
                <a:latin typeface="Calibri (Body)"/>
              </a:rPr>
              <a:t>, making it the most underperforming KPI post-5G.</a:t>
            </a:r>
            <a:endParaRPr lang="en-US" sz="1400" dirty="0">
              <a:latin typeface="Calibri (Body)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28271A-05FF-440B-3DE9-829F6824FD96}"/>
              </a:ext>
            </a:extLst>
          </p:cNvPr>
          <p:cNvSpPr txBox="1"/>
          <p:nvPr/>
        </p:nvSpPr>
        <p:spPr>
          <a:xfrm>
            <a:off x="6959941" y="3036735"/>
            <a:ext cx="25202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 (Body)"/>
              </a:rPr>
              <a:t>Strong performers:</a:t>
            </a:r>
            <a:r>
              <a:rPr lang="en-US" sz="1400" dirty="0">
                <a:latin typeface="Calibri (Body)"/>
              </a:rPr>
              <a:t> p1, p11, p12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 (Body)"/>
              </a:rPr>
              <a:t>Mid‑tier stable: p2, p3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 (Body)"/>
              </a:rPr>
              <a:t>Weak contributors: p4–p7,p13</a:t>
            </a:r>
          </a:p>
          <a:p>
            <a:endParaRPr lang="en-GB" sz="1400" dirty="0">
              <a:latin typeface="Calibri (Body)"/>
            </a:endParaRPr>
          </a:p>
          <a:p>
            <a:r>
              <a:rPr lang="en-GB" sz="1400" dirty="0">
                <a:latin typeface="Calibri (Body)"/>
              </a:rPr>
              <a:t>👉 Recommendation: Retain &amp; promote p1, p11, p12; and discontinue weaker ones.</a:t>
            </a:r>
            <a:endParaRPr lang="en-US" sz="1400" dirty="0">
              <a:latin typeface="Calibri (Body)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E51A85-85EB-A1A9-1E9E-F79D92E5AAA2}"/>
              </a:ext>
            </a:extLst>
          </p:cNvPr>
          <p:cNvSpPr txBox="1"/>
          <p:nvPr/>
        </p:nvSpPr>
        <p:spPr>
          <a:xfrm>
            <a:off x="9573995" y="3043691"/>
            <a:ext cx="223556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 (Body)"/>
              </a:rPr>
              <a:t>Strategic Action Needed</a:t>
            </a:r>
          </a:p>
          <a:p>
            <a:pPr algn="ctr"/>
            <a:endParaRPr lang="en-GB" sz="1600" b="1" dirty="0">
              <a:latin typeface="Calibri (Body)"/>
            </a:endParaRPr>
          </a:p>
          <a:p>
            <a:pPr algn="ctr"/>
            <a:r>
              <a:rPr lang="en-GB" sz="1400" dirty="0">
                <a:latin typeface="Calibri (Body)"/>
              </a:rPr>
              <a:t>Plans in </a:t>
            </a:r>
            <a:r>
              <a:rPr lang="en-GB" sz="1400" b="1" dirty="0">
                <a:latin typeface="Calibri (Body)"/>
              </a:rPr>
              <a:t>Pune</a:t>
            </a:r>
            <a:r>
              <a:rPr lang="en-GB" sz="1400" dirty="0">
                <a:latin typeface="Calibri (Body)"/>
              </a:rPr>
              <a:t> and </a:t>
            </a:r>
            <a:r>
              <a:rPr lang="en-GB" sz="1400" b="1" dirty="0">
                <a:latin typeface="Calibri (Body)"/>
              </a:rPr>
              <a:t>Mumbai</a:t>
            </a:r>
            <a:r>
              <a:rPr lang="en-GB" sz="1400" dirty="0">
                <a:latin typeface="Calibri (Body)"/>
              </a:rPr>
              <a:t> show misalignment between user growth and revenue. Recommend </a:t>
            </a:r>
            <a:r>
              <a:rPr lang="en-GB" sz="1400" b="1" dirty="0">
                <a:latin typeface="Calibri (Body)"/>
              </a:rPr>
              <a:t>redesign or discontinuation</a:t>
            </a:r>
            <a:r>
              <a:rPr lang="en-GB" sz="1400" dirty="0">
                <a:latin typeface="Calibri (Body)"/>
              </a:rPr>
              <a:t> based on margin analysis.</a:t>
            </a:r>
            <a:endParaRPr lang="en-US" sz="1400" dirty="0">
              <a:latin typeface="Calibri (Body)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AA696F-E626-7DCB-92B0-6D160C2C20D6}"/>
              </a:ext>
            </a:extLst>
          </p:cNvPr>
          <p:cNvSpPr txBox="1"/>
          <p:nvPr/>
        </p:nvSpPr>
        <p:spPr>
          <a:xfrm>
            <a:off x="4950167" y="2567309"/>
            <a:ext cx="173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Calibri (Body)"/>
              </a:rPr>
              <a:t>City Polarization</a:t>
            </a:r>
            <a:endParaRPr lang="en-US" b="1" u="sng" dirty="0">
              <a:latin typeface="Calibri (Body)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A0A59C-2DDB-760D-FF25-75B04BCF3904}"/>
              </a:ext>
            </a:extLst>
          </p:cNvPr>
          <p:cNvSpPr txBox="1"/>
          <p:nvPr/>
        </p:nvSpPr>
        <p:spPr>
          <a:xfrm>
            <a:off x="4732220" y="3023596"/>
            <a:ext cx="2133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Calibri (Body)"/>
              </a:rPr>
              <a:t>Cities like </a:t>
            </a:r>
            <a:r>
              <a:rPr lang="en-GB" sz="1400" b="1" dirty="0">
                <a:latin typeface="Calibri (Body)"/>
              </a:rPr>
              <a:t>Lucknow (+1.82%)</a:t>
            </a:r>
            <a:r>
              <a:rPr lang="en-GB" sz="1400" dirty="0">
                <a:latin typeface="Calibri (Body)"/>
              </a:rPr>
              <a:t> and </a:t>
            </a:r>
            <a:r>
              <a:rPr lang="en-GB" sz="1400" b="1" dirty="0">
                <a:latin typeface="Calibri (Body)"/>
              </a:rPr>
              <a:t>Gurgaon (+1.51%)</a:t>
            </a:r>
            <a:r>
              <a:rPr lang="en-GB" sz="1400" dirty="0">
                <a:latin typeface="Calibri (Body)"/>
              </a:rPr>
              <a:t> showed strong growth, while </a:t>
            </a:r>
            <a:r>
              <a:rPr lang="en-GB" sz="1400" b="1" dirty="0">
                <a:latin typeface="Calibri (Body)"/>
              </a:rPr>
              <a:t>Delhi (‑2.83%)</a:t>
            </a:r>
            <a:r>
              <a:rPr lang="en-GB" sz="1400" dirty="0">
                <a:latin typeface="Calibri (Body)"/>
              </a:rPr>
              <a:t> and </a:t>
            </a:r>
            <a:r>
              <a:rPr lang="en-GB" sz="1400" b="1" dirty="0">
                <a:latin typeface="Calibri (Body)"/>
              </a:rPr>
              <a:t>Chennai (‑2.59%)</a:t>
            </a:r>
            <a:r>
              <a:rPr lang="en-GB" sz="1400" dirty="0">
                <a:latin typeface="Calibri (Body)"/>
              </a:rPr>
              <a:t> declined.</a:t>
            </a:r>
            <a:endParaRPr lang="en-US" sz="1400" dirty="0">
              <a:latin typeface="Calibri (Body)"/>
            </a:endParaRPr>
          </a:p>
        </p:txBody>
      </p:sp>
      <p:pic>
        <p:nvPicPr>
          <p:cNvPr id="38" name="Picture 37" descr="A cell phone with a sim card&#10;&#10;AI-generated content may be incorrect.">
            <a:extLst>
              <a:ext uri="{FF2B5EF4-FFF2-40B4-BE49-F238E27FC236}">
                <a16:creationId xmlns:a16="http://schemas.microsoft.com/office/drawing/2014/main" id="{E44C168D-B11D-1023-0A28-16BE3B6BE5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239" y="2592245"/>
            <a:ext cx="347472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E3E35B1-B2F8-BC9E-014F-9999A25F6F96}"/>
              </a:ext>
            </a:extLst>
          </p:cNvPr>
          <p:cNvSpPr txBox="1"/>
          <p:nvPr/>
        </p:nvSpPr>
        <p:spPr>
          <a:xfrm>
            <a:off x="6024956" y="2264839"/>
            <a:ext cx="414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 (Body)"/>
              </a:rPr>
              <a:t>City-level Highlights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A2107-8AFE-DC6C-06B1-59D83D559414}"/>
              </a:ext>
            </a:extLst>
          </p:cNvPr>
          <p:cNvSpPr txBox="1"/>
          <p:nvPr/>
        </p:nvSpPr>
        <p:spPr>
          <a:xfrm>
            <a:off x="8063716" y="2636658"/>
            <a:ext cx="255773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Calibri (Body)"/>
            </a:endParaRPr>
          </a:p>
          <a:p>
            <a:r>
              <a:rPr lang="en-US" b="1" dirty="0">
                <a:latin typeface="Calibri (Body)"/>
              </a:rPr>
              <a:t>Negative Growth</a:t>
            </a:r>
          </a:p>
          <a:p>
            <a:pPr algn="ctr"/>
            <a:endParaRPr lang="en-US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Delhi (-2.83%)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Chennai (-2.59%)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Ahmedabad (-2.02%)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Hyderabad (-1.29%)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Chandigarh (-0.55%)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C03F6-FB7D-1CBD-528B-E1AB6BF6C4A4}"/>
              </a:ext>
            </a:extLst>
          </p:cNvPr>
          <p:cNvSpPr txBox="1"/>
          <p:nvPr/>
        </p:nvSpPr>
        <p:spPr>
          <a:xfrm>
            <a:off x="5505980" y="2636659"/>
            <a:ext cx="255773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Calibri (Body)"/>
            </a:endParaRPr>
          </a:p>
          <a:p>
            <a:r>
              <a:rPr lang="en-US" b="1" dirty="0">
                <a:latin typeface="Calibri (Body)"/>
              </a:rPr>
              <a:t>Positive Growth </a:t>
            </a:r>
          </a:p>
          <a:p>
            <a:pPr algn="ctr"/>
            <a:endParaRPr lang="en-US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Lucknow (+1.82%)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Gurgaon (+1.51%)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Patna (+1.48%)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Raipur (+1.15%)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Jaipur (+0.98%)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Calibri (Body)"/>
            </a:endParaRPr>
          </a:p>
        </p:txBody>
      </p:sp>
      <p:pic>
        <p:nvPicPr>
          <p:cNvPr id="24" name="Picture 23" descr="A red arrow pointing down&#10;&#10;AI-generated content may be incorrect.">
            <a:extLst>
              <a:ext uri="{FF2B5EF4-FFF2-40B4-BE49-F238E27FC236}">
                <a16:creationId xmlns:a16="http://schemas.microsoft.com/office/drawing/2014/main" id="{1CF118A8-6383-0F4A-6B83-8E96F16897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200" y="2867507"/>
            <a:ext cx="457200" cy="457200"/>
          </a:xfrm>
          <a:prstGeom prst="rect">
            <a:avLst/>
          </a:prstGeom>
        </p:spPr>
      </p:pic>
      <p:pic>
        <p:nvPicPr>
          <p:cNvPr id="28" name="Picture 27" descr="A green arrow pointing up&#10;&#10;AI-generated content may be incorrect.">
            <a:extLst>
              <a:ext uri="{FF2B5EF4-FFF2-40B4-BE49-F238E27FC236}">
                <a16:creationId xmlns:a16="http://schemas.microsoft.com/office/drawing/2014/main" id="{F8BC96B5-3443-595E-8940-70E0DF89F3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810" y="2871941"/>
            <a:ext cx="452766" cy="4527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Revenue Performance </a:t>
            </a:r>
            <a:br>
              <a:rPr lang="en-GB" sz="4400" b="1" dirty="0">
                <a:latin typeface="Calibri (Body)"/>
              </a:rPr>
            </a:br>
            <a:r>
              <a:rPr lang="en-GB" sz="4400" b="1" dirty="0">
                <a:latin typeface="Calibri (Body)"/>
              </a:rPr>
              <a:t>Before vs After </a:t>
            </a:r>
            <a:r>
              <a:rPr lang="en-GB" sz="4400" b="1" dirty="0">
                <a:solidFill>
                  <a:srgbClr val="FF0000"/>
                </a:solidFill>
                <a:latin typeface="Calibri (Body)"/>
              </a:rPr>
              <a:t>5G</a:t>
            </a: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167" y="1359695"/>
            <a:ext cx="265048" cy="265048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88D177-971A-FF9C-2112-45321E9089E8}"/>
              </a:ext>
            </a:extLst>
          </p:cNvPr>
          <p:cNvSpPr txBox="1"/>
          <p:nvPr/>
        </p:nvSpPr>
        <p:spPr>
          <a:xfrm>
            <a:off x="1875717" y="2354494"/>
            <a:ext cx="255773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Calibri (Body)"/>
            </a:endParaRPr>
          </a:p>
          <a:p>
            <a:pPr algn="ctr"/>
            <a:endParaRPr lang="en-US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Before 5G → ₹15.98 bn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After 5G → ₹15.89 bn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Change: -0.50%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AB76F-A84F-7269-003C-98BA55B8058C}"/>
              </a:ext>
            </a:extLst>
          </p:cNvPr>
          <p:cNvSpPr txBox="1"/>
          <p:nvPr/>
        </p:nvSpPr>
        <p:spPr>
          <a:xfrm>
            <a:off x="1338741" y="4368857"/>
            <a:ext cx="373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 (Body)"/>
              </a:rPr>
              <a:t>Monthly Average Revenue:</a:t>
            </a:r>
            <a:r>
              <a:rPr lang="en-US" dirty="0">
                <a:latin typeface="Calibri (Body)"/>
              </a:rPr>
              <a:t> ₹4.0 bn</a:t>
            </a:r>
          </a:p>
        </p:txBody>
      </p:sp>
      <p:pic>
        <p:nvPicPr>
          <p:cNvPr id="13" name="Picture 12" descr="A map with red pin pointers&#10;&#10;AI-generated content may be incorrect.">
            <a:extLst>
              <a:ext uri="{FF2B5EF4-FFF2-40B4-BE49-F238E27FC236}">
                <a16:creationId xmlns:a16="http://schemas.microsoft.com/office/drawing/2014/main" id="{00645476-5016-A35A-EF5B-2FA05B60BA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280" y="2295063"/>
            <a:ext cx="347472" cy="3474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0DD699-3B51-F40A-A1B1-7B899C8F1081}"/>
              </a:ext>
            </a:extLst>
          </p:cNvPr>
          <p:cNvSpPr txBox="1"/>
          <p:nvPr/>
        </p:nvSpPr>
        <p:spPr>
          <a:xfrm>
            <a:off x="1213817" y="2284149"/>
            <a:ext cx="414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 (Body)"/>
              </a:rPr>
              <a:t>Total Revenue</a:t>
            </a:r>
          </a:p>
        </p:txBody>
      </p:sp>
      <p:pic>
        <p:nvPicPr>
          <p:cNvPr id="16" name="Picture 15" descr="A money bag and stack of coins&#10;&#10;AI-generated content may be incorrect.">
            <a:extLst>
              <a:ext uri="{FF2B5EF4-FFF2-40B4-BE49-F238E27FC236}">
                <a16:creationId xmlns:a16="http://schemas.microsoft.com/office/drawing/2014/main" id="{F5A12E6D-446D-E5FA-FF56-F11B7FE50D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725" y="2322107"/>
            <a:ext cx="347472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9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3627126-2136-6EED-C689-21754C367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308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Revenue Performance </a:t>
            </a:r>
            <a:br>
              <a:rPr lang="en-GB" sz="4400" b="1" dirty="0">
                <a:latin typeface="Calibri (Body)"/>
              </a:rPr>
            </a:b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48CE72-83E5-1623-1B09-3903EAF45DFE}"/>
              </a:ext>
            </a:extLst>
          </p:cNvPr>
          <p:cNvSpPr txBox="1"/>
          <p:nvPr/>
        </p:nvSpPr>
        <p:spPr>
          <a:xfrm>
            <a:off x="4889262" y="1957061"/>
            <a:ext cx="3133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alibri (Body)"/>
              </a:rPr>
              <a:t>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4F3F4-8E36-EAB0-A6F7-5C7DF68FF56C}"/>
              </a:ext>
            </a:extLst>
          </p:cNvPr>
          <p:cNvSpPr txBox="1"/>
          <p:nvPr/>
        </p:nvSpPr>
        <p:spPr>
          <a:xfrm>
            <a:off x="2339234" y="3150650"/>
            <a:ext cx="833862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</a:rPr>
              <a:t>Revenue overall is </a:t>
            </a:r>
            <a:r>
              <a:rPr lang="en-GB" b="1" dirty="0">
                <a:latin typeface="Calibri (Body)"/>
              </a:rPr>
              <a:t>flat to slightly negative</a:t>
            </a:r>
            <a:r>
              <a:rPr lang="en-GB" dirty="0">
                <a:latin typeface="Calibri (Body)"/>
              </a:rPr>
              <a:t>, despite ARPU (Avg. Revenue/User) gains.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Metro cities (Delhi, Chennai, Ahmedabad)</a:t>
            </a:r>
            <a:r>
              <a:rPr lang="en-US" dirty="0">
                <a:latin typeface="Calibri (Body)"/>
              </a:rPr>
              <a:t> are dragging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Tier-2 cities (Lucknow, Gurgaon, Patna)</a:t>
            </a:r>
            <a:r>
              <a:rPr lang="en-GB" dirty="0">
                <a:latin typeface="Calibri (Body)"/>
              </a:rPr>
              <a:t> are showing resilience and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Indicates </a:t>
            </a:r>
            <a:r>
              <a:rPr lang="en-US" b="1" dirty="0">
                <a:latin typeface="Calibri (Body)"/>
              </a:rPr>
              <a:t>urban churn vs regional adoption</a:t>
            </a:r>
            <a:r>
              <a:rPr lang="en-US" dirty="0">
                <a:latin typeface="Calibri (Body)"/>
              </a:rPr>
              <a:t> trend.</a:t>
            </a:r>
            <a:endParaRPr lang="en-GB" dirty="0">
              <a:latin typeface="Calibri (Body)"/>
            </a:endParaRPr>
          </a:p>
        </p:txBody>
      </p:sp>
      <p:pic>
        <p:nvPicPr>
          <p:cNvPr id="12" name="Picture 11" descr="A magnifying glass and a light bulb&#10;&#10;AI-generated content may be incorrect.">
            <a:extLst>
              <a:ext uri="{FF2B5EF4-FFF2-40B4-BE49-F238E27FC236}">
                <a16:creationId xmlns:a16="http://schemas.microsoft.com/office/drawing/2014/main" id="{B88B25BA-00DA-E2E9-C1F4-6E38148D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543" y="1805255"/>
            <a:ext cx="946738" cy="9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5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USER Performance </a:t>
            </a:r>
            <a:br>
              <a:rPr lang="en-GB" sz="4400" b="1" dirty="0">
                <a:latin typeface="Calibri (Body)"/>
              </a:rPr>
            </a:br>
            <a:r>
              <a:rPr lang="en-GB" sz="4400" b="1" dirty="0">
                <a:latin typeface="Calibri (Body)"/>
              </a:rPr>
              <a:t>Before vs After </a:t>
            </a:r>
            <a:r>
              <a:rPr lang="en-GB" sz="4400" b="1" dirty="0">
                <a:solidFill>
                  <a:srgbClr val="FF0000"/>
                </a:solidFill>
                <a:latin typeface="Calibri (Body)"/>
              </a:rPr>
              <a:t>5G</a:t>
            </a: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167" y="1359695"/>
            <a:ext cx="265048" cy="265048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88D177-971A-FF9C-2112-45321E9089E8}"/>
              </a:ext>
            </a:extLst>
          </p:cNvPr>
          <p:cNvSpPr txBox="1"/>
          <p:nvPr/>
        </p:nvSpPr>
        <p:spPr>
          <a:xfrm>
            <a:off x="1450840" y="2659288"/>
            <a:ext cx="255773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Calibri (Body)"/>
            </a:endParaRPr>
          </a:p>
          <a:p>
            <a:pPr algn="ctr"/>
            <a:endParaRPr lang="en-US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Before 5G → </a:t>
            </a:r>
            <a:r>
              <a:rPr lang="en-US" sz="1600" b="1" dirty="0">
                <a:latin typeface="Calibri (Body)"/>
              </a:rPr>
              <a:t>84.4M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After 5G → </a:t>
            </a:r>
            <a:r>
              <a:rPr lang="en-US" sz="1600" b="1" dirty="0">
                <a:latin typeface="Calibri (Body)"/>
              </a:rPr>
              <a:t>77.4M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 (Body)"/>
              </a:rPr>
              <a:t>Change:</a:t>
            </a:r>
            <a:r>
              <a:rPr lang="en-US" sz="1600" dirty="0">
                <a:latin typeface="Calibri (Body)"/>
              </a:rPr>
              <a:t> </a:t>
            </a:r>
            <a:r>
              <a:rPr lang="en-US" sz="1600" b="1" dirty="0">
                <a:latin typeface="Calibri (Body)"/>
              </a:rPr>
              <a:t>-8.28%</a:t>
            </a:r>
            <a:endParaRPr lang="en-US" sz="1600" dirty="0">
              <a:latin typeface="Calibri (Body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DD699-3B51-F40A-A1B1-7B899C8F1081}"/>
              </a:ext>
            </a:extLst>
          </p:cNvPr>
          <p:cNvSpPr txBox="1"/>
          <p:nvPr/>
        </p:nvSpPr>
        <p:spPr>
          <a:xfrm>
            <a:off x="816653" y="2662836"/>
            <a:ext cx="414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 (Body)"/>
              </a:rPr>
              <a:t>Total Active Users (TAU)</a:t>
            </a:r>
          </a:p>
        </p:txBody>
      </p:sp>
      <p:pic>
        <p:nvPicPr>
          <p:cNvPr id="4" name="Picture 3" descr="A group of people with their faces in the background&#10;&#10;AI-generated content may be incorrect.">
            <a:extLst>
              <a:ext uri="{FF2B5EF4-FFF2-40B4-BE49-F238E27FC236}">
                <a16:creationId xmlns:a16="http://schemas.microsoft.com/office/drawing/2014/main" id="{D500D14B-BD6F-5F5A-AF5E-0B17FFC18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80" y="2698882"/>
            <a:ext cx="347472" cy="347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03F6A6-ABA0-A760-E4D9-9B945F4FE76D}"/>
              </a:ext>
            </a:extLst>
          </p:cNvPr>
          <p:cNvSpPr txBox="1"/>
          <p:nvPr/>
        </p:nvSpPr>
        <p:spPr>
          <a:xfrm>
            <a:off x="6936062" y="2659288"/>
            <a:ext cx="414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 (Body)"/>
              </a:rPr>
              <a:t>Churn Impact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3F91B-7C81-5621-A803-FC16AAEEBD18}"/>
              </a:ext>
            </a:extLst>
          </p:cNvPr>
          <p:cNvSpPr txBox="1"/>
          <p:nvPr/>
        </p:nvSpPr>
        <p:spPr>
          <a:xfrm>
            <a:off x="6096000" y="2716038"/>
            <a:ext cx="5828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latin typeface="Calibri (Body)"/>
            </a:endParaRPr>
          </a:p>
          <a:p>
            <a:pPr algn="ctr"/>
            <a:endParaRPr lang="en-US" sz="16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Calibri (Body)"/>
              </a:rPr>
              <a:t>Despite ARPU growth (+11.05%), the loss of ~7M users offset revenue gains.</a:t>
            </a:r>
          </a:p>
          <a:p>
            <a:endParaRPr lang="en-GB" sz="1600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 (Body)"/>
              </a:rPr>
              <a:t>Indicates </a:t>
            </a:r>
            <a:r>
              <a:rPr lang="en-US" sz="1600" b="1" dirty="0">
                <a:latin typeface="Calibri (Body)"/>
              </a:rPr>
              <a:t>customer dissatisfaction or competitive migration</a:t>
            </a:r>
            <a:r>
              <a:rPr lang="en-US" sz="1600" dirty="0"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64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3627126-2136-6EED-C689-21754C367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778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USER Performance </a:t>
            </a:r>
            <a:br>
              <a:rPr lang="en-GB" sz="4400" b="1" dirty="0">
                <a:latin typeface="Calibri (Body)"/>
              </a:rPr>
            </a:b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48CE72-83E5-1623-1B09-3903EAF45DFE}"/>
              </a:ext>
            </a:extLst>
          </p:cNvPr>
          <p:cNvSpPr txBox="1"/>
          <p:nvPr/>
        </p:nvSpPr>
        <p:spPr>
          <a:xfrm>
            <a:off x="4990860" y="1957061"/>
            <a:ext cx="3133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alibri (Body)"/>
              </a:rPr>
              <a:t>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4F3F4-8E36-EAB0-A6F7-5C7DF68FF56C}"/>
              </a:ext>
            </a:extLst>
          </p:cNvPr>
          <p:cNvSpPr txBox="1"/>
          <p:nvPr/>
        </p:nvSpPr>
        <p:spPr>
          <a:xfrm>
            <a:off x="2339234" y="3252250"/>
            <a:ext cx="86078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</a:rPr>
              <a:t>TAU (Total Active Users) decline is the </a:t>
            </a:r>
            <a:r>
              <a:rPr lang="en-GB" b="1" dirty="0">
                <a:latin typeface="Calibri (Body)"/>
              </a:rPr>
              <a:t>most underperforming KPI</a:t>
            </a:r>
            <a:r>
              <a:rPr lang="en-GB" dirty="0">
                <a:latin typeface="Calibri (Body)"/>
              </a:rPr>
              <a:t> post‑5G.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</a:rPr>
              <a:t>Suggests </a:t>
            </a:r>
            <a:r>
              <a:rPr lang="en-GB" b="1" dirty="0">
                <a:latin typeface="Calibri (Body)"/>
              </a:rPr>
              <a:t>pricing, plan design, or network rollout issues</a:t>
            </a:r>
            <a:r>
              <a:rPr lang="en-GB" dirty="0">
                <a:latin typeface="Calibri (Body)"/>
              </a:rPr>
              <a:t> in major metros.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</a:rPr>
              <a:t>Retention strategies are critical: loyalty offers, bundled services, or targeted marketing.</a:t>
            </a:r>
          </a:p>
        </p:txBody>
      </p:sp>
      <p:pic>
        <p:nvPicPr>
          <p:cNvPr id="12" name="Picture 11" descr="A magnifying glass and a light bulb&#10;&#10;AI-generated content may be incorrect.">
            <a:extLst>
              <a:ext uri="{FF2B5EF4-FFF2-40B4-BE49-F238E27FC236}">
                <a16:creationId xmlns:a16="http://schemas.microsoft.com/office/drawing/2014/main" id="{B88B25BA-00DA-E2E9-C1F4-6E38148D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141" y="1805255"/>
            <a:ext cx="946738" cy="9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1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CITY-WISE Performance </a:t>
            </a:r>
            <a:br>
              <a:rPr lang="en-GB" sz="4400" b="1" dirty="0">
                <a:latin typeface="Calibri (Body)"/>
              </a:rPr>
            </a:br>
            <a:r>
              <a:rPr lang="en-GB" sz="4400" b="1" dirty="0">
                <a:latin typeface="Calibri (Body)"/>
              </a:rPr>
              <a:t>POST </a:t>
            </a:r>
            <a:r>
              <a:rPr lang="en-GB" sz="4400" b="1" dirty="0">
                <a:solidFill>
                  <a:srgbClr val="FF0000"/>
                </a:solidFill>
                <a:latin typeface="Calibri (Body)"/>
              </a:rPr>
              <a:t>5G</a:t>
            </a: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347" y="1359695"/>
            <a:ext cx="265048" cy="265048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pic>
        <p:nvPicPr>
          <p:cNvPr id="7" name="Picture 6" descr="A money bag and stack of coins&#10;&#10;AI-generated content may be incorrect.">
            <a:extLst>
              <a:ext uri="{FF2B5EF4-FFF2-40B4-BE49-F238E27FC236}">
                <a16:creationId xmlns:a16="http://schemas.microsoft.com/office/drawing/2014/main" id="{17DF464E-DB2C-60A9-49B6-6CFB2B4AD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089" y="2311411"/>
            <a:ext cx="347472" cy="347472"/>
          </a:xfrm>
          <a:prstGeom prst="rect">
            <a:avLst/>
          </a:prstGeom>
        </p:spPr>
      </p:pic>
      <p:pic>
        <p:nvPicPr>
          <p:cNvPr id="8" name="Picture 7" descr="A group of people with their faces in the background&#10;&#10;AI-generated content may be incorrect.">
            <a:extLst>
              <a:ext uri="{FF2B5EF4-FFF2-40B4-BE49-F238E27FC236}">
                <a16:creationId xmlns:a16="http://schemas.microsoft.com/office/drawing/2014/main" id="{ED511DF6-5A83-5B01-3F89-7811E83B4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96" y="2311411"/>
            <a:ext cx="347472" cy="3474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CCFF8A-9E66-5CF9-FDDF-75E6D3DEC5E0}"/>
              </a:ext>
            </a:extLst>
          </p:cNvPr>
          <p:cNvSpPr txBox="1"/>
          <p:nvPr/>
        </p:nvSpPr>
        <p:spPr>
          <a:xfrm>
            <a:off x="1314976" y="2320647"/>
            <a:ext cx="2509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 (Body)"/>
              </a:rPr>
              <a:t>Total Active Users (TAU)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13EAD-3DAA-84A7-804F-971AEBAC8030}"/>
              </a:ext>
            </a:extLst>
          </p:cNvPr>
          <p:cNvSpPr txBox="1"/>
          <p:nvPr/>
        </p:nvSpPr>
        <p:spPr>
          <a:xfrm>
            <a:off x="8330561" y="2320647"/>
            <a:ext cx="343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 (Body)"/>
              </a:rPr>
              <a:t>Average Revenue per User (ARPU)</a:t>
            </a:r>
          </a:p>
        </p:txBody>
      </p:sp>
      <p:pic>
        <p:nvPicPr>
          <p:cNvPr id="15" name="Picture 14" descr="A screenshot of a table&#10;&#10;AI-generated content may be incorrect.">
            <a:extLst>
              <a:ext uri="{FF2B5EF4-FFF2-40B4-BE49-F238E27FC236}">
                <a16:creationId xmlns:a16="http://schemas.microsoft.com/office/drawing/2014/main" id="{48B91251-787F-1C88-5A58-AA25BDA6BD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513" y="2841944"/>
            <a:ext cx="3572374" cy="2981741"/>
          </a:xfrm>
          <a:prstGeom prst="rect">
            <a:avLst/>
          </a:prstGeom>
        </p:spPr>
      </p:pic>
      <p:pic>
        <p:nvPicPr>
          <p:cNvPr id="17" name="Picture 16" descr="A screenshot of a table&#10;&#10;AI-generated content may be incorrect.">
            <a:extLst>
              <a:ext uri="{FF2B5EF4-FFF2-40B4-BE49-F238E27FC236}">
                <a16:creationId xmlns:a16="http://schemas.microsoft.com/office/drawing/2014/main" id="{A735C9DB-C8AF-0153-60B8-33C279E75E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33" y="2832418"/>
            <a:ext cx="3667637" cy="29912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34E784-C929-F9A7-3496-1216C5577BB5}"/>
              </a:ext>
            </a:extLst>
          </p:cNvPr>
          <p:cNvSpPr txBox="1"/>
          <p:nvPr/>
        </p:nvSpPr>
        <p:spPr>
          <a:xfrm>
            <a:off x="4574609" y="3469984"/>
            <a:ext cx="389634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latin typeface="Calibri (Body)"/>
            </a:endParaRPr>
          </a:p>
          <a:p>
            <a:pPr algn="ctr"/>
            <a:endParaRPr lang="en-US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(Body)"/>
              </a:rPr>
              <a:t>Pune → Users </a:t>
            </a:r>
            <a:r>
              <a:rPr lang="en-US" sz="1400" b="1" dirty="0">
                <a:solidFill>
                  <a:schemeClr val="accent4"/>
                </a:solidFill>
                <a:latin typeface="Calibri (Body)"/>
              </a:rPr>
              <a:t>↑</a:t>
            </a:r>
            <a:r>
              <a:rPr lang="en-US" sz="1400" dirty="0">
                <a:latin typeface="Calibri (Body)"/>
              </a:rPr>
              <a:t> (+18.06%) but </a:t>
            </a:r>
          </a:p>
          <a:p>
            <a:pPr lvl="2"/>
            <a:r>
              <a:rPr lang="en-US" sz="1400" dirty="0">
                <a:latin typeface="Calibri (Body)"/>
              </a:rPr>
              <a:t> ARPU </a:t>
            </a:r>
            <a:r>
              <a:rPr lang="en-US" sz="1400" b="1" dirty="0">
                <a:solidFill>
                  <a:srgbClr val="FF0000"/>
                </a:solidFill>
                <a:latin typeface="Calibri (Body)"/>
              </a:rPr>
              <a:t>↓</a:t>
            </a:r>
            <a:r>
              <a:rPr lang="en-US" sz="1400" dirty="0">
                <a:latin typeface="Calibri (Body)"/>
              </a:rPr>
              <a:t> (-12.88%)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>
                <a:latin typeface="Calibri (Body)"/>
              </a:rPr>
              <a:t>Mumbai → ARPU </a:t>
            </a:r>
            <a:r>
              <a:rPr lang="en-GB" sz="1400" b="1" dirty="0">
                <a:solidFill>
                  <a:schemeClr val="accent4"/>
                </a:solidFill>
                <a:latin typeface="Calibri (Body)"/>
              </a:rPr>
              <a:t>↑</a:t>
            </a:r>
            <a:r>
              <a:rPr lang="en-GB" sz="1400" dirty="0">
                <a:latin typeface="Calibri (Body)"/>
              </a:rPr>
              <a:t> (+17.41%) but </a:t>
            </a:r>
          </a:p>
          <a:p>
            <a:pPr lvl="2"/>
            <a:r>
              <a:rPr lang="en-GB" sz="1400" dirty="0">
                <a:latin typeface="Calibri (Body)"/>
              </a:rPr>
              <a:t>       Users </a:t>
            </a:r>
            <a:r>
              <a:rPr lang="en-GB" sz="1400" b="1" dirty="0">
                <a:solidFill>
                  <a:srgbClr val="FF0000"/>
                </a:solidFill>
                <a:latin typeface="Calibri (Body)"/>
              </a:rPr>
              <a:t>↓</a:t>
            </a:r>
            <a:r>
              <a:rPr lang="en-GB" sz="1400" dirty="0">
                <a:latin typeface="Calibri (Body)"/>
              </a:rPr>
              <a:t> (-14.35%)</a:t>
            </a:r>
            <a:endParaRPr lang="en-US" sz="1400" dirty="0">
              <a:latin typeface="Calibri (Body)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33801-E071-1FF4-640A-4DD845DF1F6F}"/>
              </a:ext>
            </a:extLst>
          </p:cNvPr>
          <p:cNvSpPr txBox="1"/>
          <p:nvPr/>
        </p:nvSpPr>
        <p:spPr>
          <a:xfrm>
            <a:off x="4318966" y="3212579"/>
            <a:ext cx="414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 (Body)"/>
              </a:rPr>
              <a:t>Mixed Signals</a:t>
            </a:r>
          </a:p>
        </p:txBody>
      </p:sp>
      <p:pic>
        <p:nvPicPr>
          <p:cNvPr id="21" name="Picture 20" descr="A cartoon of a person with question marks&#10;&#10;AI-generated content may be incorrect.">
            <a:extLst>
              <a:ext uri="{FF2B5EF4-FFF2-40B4-BE49-F238E27FC236}">
                <a16:creationId xmlns:a16="http://schemas.microsoft.com/office/drawing/2014/main" id="{96B6547B-4FD6-CA72-1863-A33C7D12D0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708" y="2923884"/>
            <a:ext cx="838541" cy="8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54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3627126-2136-6EED-C689-21754C367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778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CITY-WISE Performance </a:t>
            </a:r>
            <a:br>
              <a:rPr lang="en-GB" sz="4400" b="1" dirty="0">
                <a:latin typeface="Calibri (Body)"/>
              </a:rPr>
            </a:b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48CE72-83E5-1623-1B09-3903EAF45DFE}"/>
              </a:ext>
            </a:extLst>
          </p:cNvPr>
          <p:cNvSpPr txBox="1"/>
          <p:nvPr/>
        </p:nvSpPr>
        <p:spPr>
          <a:xfrm>
            <a:off x="4990860" y="1957061"/>
            <a:ext cx="3133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alibri (Body)"/>
              </a:rPr>
              <a:t>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4F3F4-8E36-EAB0-A6F7-5C7DF68FF56C}"/>
              </a:ext>
            </a:extLst>
          </p:cNvPr>
          <p:cNvSpPr txBox="1"/>
          <p:nvPr/>
        </p:nvSpPr>
        <p:spPr>
          <a:xfrm>
            <a:off x="2339234" y="3071087"/>
            <a:ext cx="82251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Tier-2 cities</a:t>
            </a:r>
            <a:r>
              <a:rPr lang="en-GB" dirty="0">
                <a:latin typeface="Calibri (Body)"/>
              </a:rPr>
              <a:t> are driving growth and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Metro cities</a:t>
            </a:r>
            <a:r>
              <a:rPr lang="en-GB" dirty="0">
                <a:latin typeface="Calibri (Body)"/>
              </a:rPr>
              <a:t> are struggling with churn and declining KPIs.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 (Body)"/>
              </a:rPr>
              <a:t>Pune and Mumbai show </a:t>
            </a:r>
            <a:r>
              <a:rPr lang="en-GB" b="1" dirty="0">
                <a:latin typeface="Calibri (Body)"/>
              </a:rPr>
              <a:t>misalignment between user growth and revenue</a:t>
            </a:r>
            <a:r>
              <a:rPr lang="en-GB" dirty="0">
                <a:latin typeface="Calibri (Body)"/>
              </a:rPr>
              <a:t>, requiring plan redesign or discontinuation.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Indicates </a:t>
            </a:r>
            <a:r>
              <a:rPr lang="en-US" b="1" dirty="0">
                <a:latin typeface="Calibri (Body)"/>
              </a:rPr>
              <a:t>regional adoption vs urban resistance</a:t>
            </a:r>
            <a:r>
              <a:rPr lang="en-US" dirty="0">
                <a:latin typeface="Calibri (Body)"/>
              </a:rPr>
              <a:t> trend.</a:t>
            </a:r>
            <a:endParaRPr lang="en-GB" dirty="0">
              <a:latin typeface="Calibri (Body)"/>
            </a:endParaRPr>
          </a:p>
        </p:txBody>
      </p:sp>
      <p:pic>
        <p:nvPicPr>
          <p:cNvPr id="12" name="Picture 11" descr="A magnifying glass and a light bulb&#10;&#10;AI-generated content may be incorrect.">
            <a:extLst>
              <a:ext uri="{FF2B5EF4-FFF2-40B4-BE49-F238E27FC236}">
                <a16:creationId xmlns:a16="http://schemas.microsoft.com/office/drawing/2014/main" id="{B88B25BA-00DA-E2E9-C1F4-6E38148D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141" y="1805255"/>
            <a:ext cx="946738" cy="9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2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785" y="737259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ACTION PLAN POST </a:t>
            </a:r>
            <a:r>
              <a:rPr lang="en-GB" sz="4400" b="1" dirty="0">
                <a:solidFill>
                  <a:srgbClr val="FF0000"/>
                </a:solidFill>
                <a:latin typeface="Calibri (Body)"/>
              </a:rPr>
              <a:t>5G  </a:t>
            </a:r>
            <a:r>
              <a:rPr lang="en-GB" sz="4400" b="1" dirty="0">
                <a:latin typeface="Calibri (Body)"/>
              </a:rPr>
              <a:t>INSIGHTS</a:t>
            </a:r>
            <a:endParaRPr lang="en-US" sz="4400" b="1" dirty="0"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10" y="867988"/>
            <a:ext cx="265048" cy="265048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5CAC7D99-5416-B60B-5C58-7C828464A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487" y="737259"/>
            <a:ext cx="951716" cy="951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912A3C-2CBA-69C4-2684-CE58A60E1C55}"/>
              </a:ext>
            </a:extLst>
          </p:cNvPr>
          <p:cNvSpPr txBox="1"/>
          <p:nvPr/>
        </p:nvSpPr>
        <p:spPr>
          <a:xfrm>
            <a:off x="2384515" y="1885979"/>
            <a:ext cx="2730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75000"/>
                  </a:schemeClr>
                </a:solidFill>
                <a:latin typeface="Calibri (Body)"/>
              </a:rPr>
              <a:t>RETAIN &amp; STRENGTHEN </a:t>
            </a:r>
          </a:p>
          <a:p>
            <a:r>
              <a:rPr lang="en-GB" b="1" dirty="0">
                <a:solidFill>
                  <a:schemeClr val="accent4">
                    <a:lumMod val="75000"/>
                  </a:schemeClr>
                </a:solidFill>
                <a:latin typeface="Calibri (Body)"/>
              </a:rPr>
              <a:t>HIGH PERFORMING PLANS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EA969E-954A-988F-CC2A-C6818B54BE9C}"/>
              </a:ext>
            </a:extLst>
          </p:cNvPr>
          <p:cNvSpPr txBox="1"/>
          <p:nvPr/>
        </p:nvSpPr>
        <p:spPr>
          <a:xfrm>
            <a:off x="2424622" y="3649768"/>
            <a:ext cx="2591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 (Body)"/>
              </a:rPr>
              <a:t>ADDRESS METRO CHURN</a:t>
            </a:r>
            <a:endParaRPr lang="en-GB" b="1" dirty="0">
              <a:solidFill>
                <a:schemeClr val="accent1">
                  <a:lumMod val="75000"/>
                </a:schemeClr>
              </a:solidFill>
              <a:latin typeface="Calibri (Body)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DA240B-0BFD-3275-A273-69C2C049C9AA}"/>
              </a:ext>
            </a:extLst>
          </p:cNvPr>
          <p:cNvSpPr txBox="1"/>
          <p:nvPr/>
        </p:nvSpPr>
        <p:spPr>
          <a:xfrm>
            <a:off x="6533146" y="1885979"/>
            <a:ext cx="3105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REDESIGN MISALIGNED PLANS</a:t>
            </a:r>
            <a:endParaRPr lang="en-GB" b="1" dirty="0">
              <a:solidFill>
                <a:schemeClr val="accent2">
                  <a:lumMod val="75000"/>
                </a:schemeClr>
              </a:solidFill>
              <a:latin typeface="Calibri (Body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7F0FE-B59C-9F0A-110B-B055AD0C01D4}"/>
              </a:ext>
            </a:extLst>
          </p:cNvPr>
          <p:cNvSpPr txBox="1"/>
          <p:nvPr/>
        </p:nvSpPr>
        <p:spPr>
          <a:xfrm>
            <a:off x="6905444" y="3649768"/>
            <a:ext cx="260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Body)"/>
              </a:rPr>
              <a:t>FOCUS ON KPI RECOVERY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Calibri (Body)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B757B6-B1BC-B43B-3B93-7E6672C1771A}"/>
              </a:ext>
            </a:extLst>
          </p:cNvPr>
          <p:cNvSpPr txBox="1"/>
          <p:nvPr/>
        </p:nvSpPr>
        <p:spPr>
          <a:xfrm>
            <a:off x="1759779" y="2558188"/>
            <a:ext cx="387182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Continue plans in </a:t>
            </a:r>
            <a:r>
              <a:rPr lang="en-GB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Lucknow, Patna, Gurgaon, Raipur</a:t>
            </a:r>
            <a:r>
              <a:rPr lang="en-GB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 where adoption and revenue are growing.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accent4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Invest in marketing and network expansion in these regions.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  <a:latin typeface="Calibri (Body)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3A459-3745-A248-E831-C5C9FC195D3D}"/>
              </a:ext>
            </a:extLst>
          </p:cNvPr>
          <p:cNvSpPr txBox="1"/>
          <p:nvPr/>
        </p:nvSpPr>
        <p:spPr>
          <a:xfrm>
            <a:off x="1777033" y="4079482"/>
            <a:ext cx="387182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(Body)"/>
              </a:rPr>
              <a:t>Delhi, Chennai, Ahmedabad, Hyderabad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(Body)"/>
              </a:rPr>
              <a:t> show steep declines.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(Body)"/>
              </a:rPr>
              <a:t>Conduct churn analysis (pricing, competition, service quality).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(Body)"/>
              </a:rPr>
              <a:t>Launch targeted loyalty programs.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E6A65B-98E3-5633-1A8E-9C8A1E764B3C}"/>
              </a:ext>
            </a:extLst>
          </p:cNvPr>
          <p:cNvSpPr txBox="1"/>
          <p:nvPr/>
        </p:nvSpPr>
        <p:spPr>
          <a:xfrm>
            <a:off x="6268529" y="2385256"/>
            <a:ext cx="387182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chemeClr val="accent2"/>
                </a:solidFill>
                <a:latin typeface="Calibri (Body)"/>
              </a:rPr>
              <a:t>Pune:</a:t>
            </a:r>
            <a:r>
              <a:rPr lang="en-GB" sz="1100" dirty="0">
                <a:solidFill>
                  <a:schemeClr val="accent2"/>
                </a:solidFill>
                <a:latin typeface="Calibri (Body)"/>
              </a:rPr>
              <a:t> High user growth but low ARPU → Adjust pricing/benefits to improve margins.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2"/>
              </a:solidFill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chemeClr val="accent2"/>
                </a:solidFill>
                <a:latin typeface="Calibri (Body)"/>
              </a:rPr>
              <a:t>Mumbai:</a:t>
            </a:r>
            <a:r>
              <a:rPr lang="en-GB" sz="1100" dirty="0">
                <a:solidFill>
                  <a:schemeClr val="accent2"/>
                </a:solidFill>
                <a:latin typeface="Calibri (Body)"/>
              </a:rPr>
              <a:t> High ARPU but declining users → Introduce retention offers and competitive bundles.</a:t>
            </a:r>
            <a:endParaRPr lang="en-US" sz="1100" dirty="0">
              <a:solidFill>
                <a:schemeClr val="accent2"/>
              </a:solidFill>
              <a:latin typeface="Calibri (Body)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0B3C50-9B16-661E-71F0-CF5E24500434}"/>
              </a:ext>
            </a:extLst>
          </p:cNvPr>
          <p:cNvSpPr txBox="1"/>
          <p:nvPr/>
        </p:nvSpPr>
        <p:spPr>
          <a:xfrm>
            <a:off x="6268528" y="4079481"/>
            <a:ext cx="387182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TAU dropped by </a:t>
            </a:r>
            <a:r>
              <a:rPr lang="en-GB" sz="11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8.28%</a:t>
            </a:r>
            <a:r>
              <a:rPr lang="en-GB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 → Prioritize customer retention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Bundle services (data + OTT), improve customer experience, and reduce churn drivers.</a:t>
            </a:r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89872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onfetti falling on a black background&#10;&#10;AI-generated content may be incorrect.">
            <a:extLst>
              <a:ext uri="{FF2B5EF4-FFF2-40B4-BE49-F238E27FC236}">
                <a16:creationId xmlns:a16="http://schemas.microsoft.com/office/drawing/2014/main" id="{F6DBCE84-1C0E-1C39-F91B-2525B0D250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83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PLAN Performance </a:t>
            </a:r>
            <a:br>
              <a:rPr lang="en-GB" sz="4400" b="1" dirty="0">
                <a:latin typeface="Calibri (Body)"/>
              </a:rPr>
            </a:br>
            <a:r>
              <a:rPr lang="en-GB" sz="4400" b="1" dirty="0">
                <a:latin typeface="Calibri (Body)"/>
              </a:rPr>
              <a:t>POST </a:t>
            </a:r>
            <a:r>
              <a:rPr lang="en-GB" sz="4400" b="1" dirty="0">
                <a:solidFill>
                  <a:srgbClr val="FF0000"/>
                </a:solidFill>
                <a:latin typeface="Calibri (Body)"/>
              </a:rPr>
              <a:t>5G</a:t>
            </a: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347" y="1359695"/>
            <a:ext cx="265048" cy="265048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D40802-8197-DA72-568E-8D9C382F07F8}"/>
              </a:ext>
            </a:extLst>
          </p:cNvPr>
          <p:cNvSpPr txBox="1"/>
          <p:nvPr/>
        </p:nvSpPr>
        <p:spPr>
          <a:xfrm>
            <a:off x="3342180" y="2320647"/>
            <a:ext cx="610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Calibri (Body)"/>
              </a:rPr>
              <a:t>Flagship Plan (p1 – Smart Recharge Pack, 2 GB/Day, 3 months)</a:t>
            </a:r>
            <a:endParaRPr lang="en-US" b="1" dirty="0">
              <a:latin typeface="Calibri (Body)"/>
            </a:endParaRPr>
          </a:p>
        </p:txBody>
      </p:sp>
      <p:pic>
        <p:nvPicPr>
          <p:cNvPr id="4" name="Picture 3" descr="A cell phone with a sim card&#10;&#10;AI-generated content may be incorrect.">
            <a:extLst>
              <a:ext uri="{FF2B5EF4-FFF2-40B4-BE49-F238E27FC236}">
                <a16:creationId xmlns:a16="http://schemas.microsoft.com/office/drawing/2014/main" id="{F1522103-3BEC-7286-E0E7-7C26D3DB3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141" y="2320647"/>
            <a:ext cx="347472" cy="347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78FA7A-AAB1-371D-FB3E-43687D107503}"/>
              </a:ext>
            </a:extLst>
          </p:cNvPr>
          <p:cNvSpPr txBox="1"/>
          <p:nvPr/>
        </p:nvSpPr>
        <p:spPr>
          <a:xfrm>
            <a:off x="2934582" y="2443631"/>
            <a:ext cx="64509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latin typeface="Calibri (Body)"/>
            </a:endParaRPr>
          </a:p>
          <a:p>
            <a:pPr algn="ctr"/>
            <a:endParaRPr lang="en-US" sz="14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 (Body)"/>
              </a:rPr>
              <a:t>Revenue Before 5G:</a:t>
            </a:r>
            <a:r>
              <a:rPr lang="en-US" sz="1400" dirty="0">
                <a:latin typeface="Calibri (Body)"/>
              </a:rPr>
              <a:t> ₹1.8bn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 (Body)"/>
              </a:rPr>
              <a:t>Revenue After 5G:</a:t>
            </a:r>
            <a:r>
              <a:rPr lang="en-GB" sz="1400" dirty="0">
                <a:latin typeface="Calibri (Body)"/>
              </a:rPr>
              <a:t> ₹2.4bn (</a:t>
            </a:r>
            <a:r>
              <a:rPr lang="en-GB" sz="1400" b="1" dirty="0">
                <a:solidFill>
                  <a:srgbClr val="00B050"/>
                </a:solidFill>
                <a:latin typeface="Calibri (Body)"/>
              </a:rPr>
              <a:t>+33% growth</a:t>
            </a:r>
            <a:r>
              <a:rPr lang="en-GB" sz="1400" dirty="0">
                <a:latin typeface="Calibri (Body)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 (Body)"/>
              </a:rPr>
              <a:t>Monthly Trend (Jan–Apr):</a:t>
            </a:r>
            <a:r>
              <a:rPr lang="en-GB" sz="1400" dirty="0">
                <a:latin typeface="Calibri (Body)"/>
              </a:rPr>
              <a:t> Stable ~₹396M → ₹503M → ₹466M → ₹448M</a:t>
            </a:r>
            <a:endParaRPr lang="en-US" sz="14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 (Body)"/>
              </a:rPr>
              <a:t>Top Cities:</a:t>
            </a:r>
            <a:r>
              <a:rPr lang="en-US" sz="1400" dirty="0">
                <a:latin typeface="Calibri (Body)"/>
              </a:rPr>
              <a:t> Mumbai (₹0.25bn), Kolkata (₹0.22bn), Delhi (₹0.21bn), Bangalore (₹0.20bn), Chennai (₹0.18bn)</a:t>
            </a:r>
            <a:endParaRPr lang="en-US" sz="14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 (Body)"/>
              </a:rPr>
              <a:t>Insight:</a:t>
            </a:r>
            <a:r>
              <a:rPr lang="en-GB" sz="1400" dirty="0">
                <a:latin typeface="Calibri (Body)"/>
              </a:rPr>
              <a:t> Clear winner post‑5G, strong adoption across metros.</a:t>
            </a:r>
            <a:endParaRPr lang="en-US" sz="14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b="1" dirty="0"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b="1" dirty="0">
                <a:latin typeface="Calibri (Body)"/>
              </a:rPr>
              <a:t>Action:</a:t>
            </a:r>
            <a:r>
              <a:rPr lang="en-GB" sz="1400" dirty="0">
                <a:latin typeface="Calibri (Body)"/>
              </a:rPr>
              <a:t> Retain and promote aggressively.</a:t>
            </a:r>
            <a:endParaRPr lang="en-US" sz="1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85518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3627126-2136-6EED-C689-21754C367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778" y="1185836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PLAN Performance </a:t>
            </a:r>
            <a:br>
              <a:rPr lang="en-GB" sz="4400" b="1" dirty="0">
                <a:latin typeface="Calibri (Body)"/>
              </a:rPr>
            </a:br>
            <a:endParaRPr lang="en-US" sz="44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48CE72-83E5-1623-1B09-3903EAF45DFE}"/>
              </a:ext>
            </a:extLst>
          </p:cNvPr>
          <p:cNvSpPr txBox="1"/>
          <p:nvPr/>
        </p:nvSpPr>
        <p:spPr>
          <a:xfrm>
            <a:off x="4990860" y="1957061"/>
            <a:ext cx="3133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alibri (Body)"/>
              </a:rPr>
              <a:t>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4F3F4-8E36-EAB0-A6F7-5C7DF68FF56C}"/>
              </a:ext>
            </a:extLst>
          </p:cNvPr>
          <p:cNvSpPr txBox="1"/>
          <p:nvPr/>
        </p:nvSpPr>
        <p:spPr>
          <a:xfrm>
            <a:off x="2339234" y="3071087"/>
            <a:ext cx="82251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Plans performing well:</a:t>
            </a:r>
            <a:r>
              <a:rPr lang="en-GB" dirty="0">
                <a:latin typeface="Calibri (Body)"/>
              </a:rPr>
              <a:t> p1, p11, p12, p2, p3.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Plans not performing well:</a:t>
            </a:r>
            <a:r>
              <a:rPr lang="en-GB" dirty="0">
                <a:latin typeface="Calibri (Body)"/>
              </a:rPr>
              <a:t> p4–p7, p13.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Plan most affected by 5G:</a:t>
            </a:r>
            <a:r>
              <a:rPr lang="en-GB" dirty="0">
                <a:latin typeface="Calibri (Body)"/>
              </a:rPr>
              <a:t> p1 (positive impact, should continue).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 (Body)"/>
              </a:rPr>
              <a:t>Discontinued plans:</a:t>
            </a:r>
            <a:r>
              <a:rPr lang="en-GB" dirty="0">
                <a:latin typeface="Calibri (Body)"/>
              </a:rPr>
              <a:t> None officially discontinued, but weaker ones (p4–p7, p13) are candidates due to low revenue contribution.</a:t>
            </a:r>
          </a:p>
        </p:txBody>
      </p:sp>
      <p:pic>
        <p:nvPicPr>
          <p:cNvPr id="12" name="Picture 11" descr="A magnifying glass and a light bulb&#10;&#10;AI-generated content may be incorrect.">
            <a:extLst>
              <a:ext uri="{FF2B5EF4-FFF2-40B4-BE49-F238E27FC236}">
                <a16:creationId xmlns:a16="http://schemas.microsoft.com/office/drawing/2014/main" id="{B88B25BA-00DA-E2E9-C1F4-6E38148D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141" y="1805255"/>
            <a:ext cx="946738" cy="9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24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CB757B6-B1BC-B43B-3B93-7E6672C1771A}"/>
              </a:ext>
            </a:extLst>
          </p:cNvPr>
          <p:cNvSpPr txBox="1"/>
          <p:nvPr/>
        </p:nvSpPr>
        <p:spPr>
          <a:xfrm>
            <a:off x="1759779" y="3058515"/>
            <a:ext cx="387182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p1 (Smart Recharge Pack, 2 GB/day, 3 months): Revenue surged from ₹1.8bn → ₹2.4bn (+33%).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accent4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p11 &amp; p12: Consistent strong performers (~₹480M and ₹300M/month).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accent4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p2 &amp; p3: Mid‑tier but stable (~₹350M/month). </a:t>
            </a:r>
          </a:p>
          <a:p>
            <a:endParaRPr lang="en-GB" sz="1100" dirty="0">
              <a:solidFill>
                <a:schemeClr val="accent4">
                  <a:lumMod val="60000"/>
                  <a:lumOff val="40000"/>
                </a:schemeClr>
              </a:solidFill>
              <a:latin typeface="Calibri (Body)"/>
            </a:endParaRPr>
          </a:p>
          <a:p>
            <a:r>
              <a:rPr lang="en-GB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 (Body)"/>
              </a:rPr>
              <a:t>✅ Action: Continue and promote these plans as growth drivers.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FA455-0F7D-3FED-0108-9E034883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737259"/>
            <a:ext cx="9448800" cy="951716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Calibri (Body)"/>
              </a:rPr>
              <a:t>POST </a:t>
            </a:r>
            <a:r>
              <a:rPr lang="en-GB" sz="4400" b="1" dirty="0">
                <a:solidFill>
                  <a:srgbClr val="FF0000"/>
                </a:solidFill>
                <a:latin typeface="Calibri (Body)"/>
              </a:rPr>
              <a:t>5G  </a:t>
            </a:r>
            <a:r>
              <a:rPr lang="en-GB" sz="4400" b="1" dirty="0">
                <a:latin typeface="Calibri (Body)"/>
              </a:rPr>
              <a:t>PLAN STRATEGY</a:t>
            </a:r>
            <a:endParaRPr lang="en-US" sz="4400" b="1" dirty="0"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152" y="876614"/>
            <a:ext cx="265048" cy="265048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5CAC7D99-5416-B60B-5C58-7C828464A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59" y="737259"/>
            <a:ext cx="951716" cy="951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912A3C-2CBA-69C4-2684-CE58A60E1C55}"/>
              </a:ext>
            </a:extLst>
          </p:cNvPr>
          <p:cNvSpPr txBox="1"/>
          <p:nvPr/>
        </p:nvSpPr>
        <p:spPr>
          <a:xfrm>
            <a:off x="2548414" y="2204779"/>
            <a:ext cx="2271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4">
                    <a:lumMod val="75000"/>
                  </a:schemeClr>
                </a:solidFill>
                <a:latin typeface="Calibri (Body)"/>
              </a:rPr>
              <a:t>PERFORMING WELL </a:t>
            </a:r>
          </a:p>
          <a:p>
            <a:pPr algn="ctr"/>
            <a:r>
              <a:rPr lang="en-GB" b="1" dirty="0">
                <a:solidFill>
                  <a:schemeClr val="accent4">
                    <a:lumMod val="75000"/>
                  </a:schemeClr>
                </a:solidFill>
                <a:latin typeface="Calibri (Body)"/>
              </a:rPr>
              <a:t>(RETAIN &amp; PROMOTE)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EA969E-954A-988F-CC2A-C6818B54BE9C}"/>
              </a:ext>
            </a:extLst>
          </p:cNvPr>
          <p:cNvSpPr txBox="1"/>
          <p:nvPr/>
        </p:nvSpPr>
        <p:spPr>
          <a:xfrm>
            <a:off x="6592050" y="2204779"/>
            <a:ext cx="2986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 (Body)"/>
              </a:rPr>
              <a:t>WEAK CONTRIBUTORS</a:t>
            </a: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 (Body)"/>
              </a:rPr>
              <a:t>(STREAMLINE/DISCONTINUE)</a:t>
            </a:r>
            <a:endParaRPr lang="en-GB" b="1" dirty="0">
              <a:solidFill>
                <a:schemeClr val="accent1">
                  <a:lumMod val="75000"/>
                </a:schemeClr>
              </a:solidFill>
              <a:latin typeface="Calibri (Body)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3A459-3745-A248-E831-C5C9FC195D3D}"/>
              </a:ext>
            </a:extLst>
          </p:cNvPr>
          <p:cNvSpPr txBox="1"/>
          <p:nvPr/>
        </p:nvSpPr>
        <p:spPr>
          <a:xfrm>
            <a:off x="6462038" y="3058515"/>
            <a:ext cx="387182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(Body)"/>
              </a:rPr>
              <a:t>p4–p7: Small revenue (~₹200M or less/month).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b="1" dirty="0">
              <a:solidFill>
                <a:schemeClr val="accent1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(Body)"/>
              </a:rPr>
              <a:t>p13: Niche plan, stable but very low (~₹80M/month).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b="1" dirty="0">
              <a:solidFill>
                <a:schemeClr val="accent1">
                  <a:lumMod val="60000"/>
                  <a:lumOff val="40000"/>
                </a:schemeClr>
              </a:solidFill>
              <a:latin typeface="Calibri (Body)"/>
            </a:endParaRPr>
          </a:p>
          <a:p>
            <a:r>
              <a:rPr lang="en-GB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(Body)"/>
              </a:rPr>
              <a:t>❌ Action: Consider bundling or discontinuation to focus resources on high‑impact plans.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accent1">
                  <a:lumMod val="60000"/>
                  <a:lumOff val="40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743285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886B0B-87BF-0F50-514D-4D8BA361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674" y="1965059"/>
            <a:ext cx="265048" cy="265048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18E5AA4-FA36-5148-28F0-3070DC88B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906" y="-782090"/>
            <a:ext cx="4621602" cy="2919966"/>
          </a:xfrm>
          <a:prstGeom prst="rect">
            <a:avLst/>
          </a:prstGeom>
          <a:effectLst>
            <a:outerShdw blurRad="25400" dist="25400" dir="2700000" algn="tl" rotWithShape="0">
              <a:schemeClr val="bg1">
                <a:lumMod val="95000"/>
              </a:scheme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7588F1-D09F-421B-2F63-55A4DF3BE0C7}"/>
              </a:ext>
            </a:extLst>
          </p:cNvPr>
          <p:cNvSpPr txBox="1"/>
          <p:nvPr/>
        </p:nvSpPr>
        <p:spPr>
          <a:xfrm>
            <a:off x="540213" y="3531323"/>
            <a:ext cx="11251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Calibri (Body)"/>
              </a:rPr>
              <a:t>“Wavecon remains committed to delivering value through innovation, connectivity, and customer focus in the 5G era.”</a:t>
            </a:r>
            <a:endParaRPr lang="en-US" i="1" dirty="0">
              <a:latin typeface="Calibri (Body)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68E25A-252E-1725-32E0-A3B8B5A5CBCE}"/>
              </a:ext>
            </a:extLst>
          </p:cNvPr>
          <p:cNvSpPr txBox="1">
            <a:spLocks/>
          </p:cNvSpPr>
          <p:nvPr/>
        </p:nvSpPr>
        <p:spPr>
          <a:xfrm>
            <a:off x="2797673" y="1962183"/>
            <a:ext cx="6596653" cy="14130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9600" b="1" dirty="0">
                <a:solidFill>
                  <a:srgbClr val="FF0000"/>
                </a:solidFill>
                <a:latin typeface="Calibri (Body)"/>
              </a:rPr>
              <a:t>THANK YOU</a:t>
            </a:r>
            <a:endParaRPr lang="en-US" sz="9600" b="1" dirty="0">
              <a:solidFill>
                <a:srgbClr val="FF0000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97C82-6FA6-E1F1-D26E-A5150EC34C3E}"/>
              </a:ext>
            </a:extLst>
          </p:cNvPr>
          <p:cNvSpPr txBox="1"/>
          <p:nvPr/>
        </p:nvSpPr>
        <p:spPr>
          <a:xfrm>
            <a:off x="4857135" y="4386537"/>
            <a:ext cx="247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 (Body)"/>
              </a:rPr>
              <a:t>– Prashant Kumar Sahoo</a:t>
            </a:r>
          </a:p>
        </p:txBody>
      </p:sp>
    </p:spTree>
    <p:extLst>
      <p:ext uri="{BB962C8B-B14F-4D97-AF65-F5344CB8AC3E}">
        <p14:creationId xmlns:p14="http://schemas.microsoft.com/office/powerpoint/2010/main" val="255203293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358</TotalTime>
  <Words>1007</Words>
  <Application>Microsoft Office PowerPoint</Application>
  <PresentationFormat>Widescreen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(Body)</vt:lpstr>
      <vt:lpstr>Century Gothic</vt:lpstr>
      <vt:lpstr>Vapor Trail</vt:lpstr>
      <vt:lpstr>Wavecon 5G Impact Analysis </vt:lpstr>
      <vt:lpstr>Key Insights Post- 5G Launch</vt:lpstr>
      <vt:lpstr>Revenue Performance  Before vs After 5G</vt:lpstr>
      <vt:lpstr>Revenue Performance  </vt:lpstr>
      <vt:lpstr>USER Performance  Before vs After 5G</vt:lpstr>
      <vt:lpstr>USER Performance  </vt:lpstr>
      <vt:lpstr>CITY-WISE Performance  POST 5G</vt:lpstr>
      <vt:lpstr>CITY-WISE Performance  </vt:lpstr>
      <vt:lpstr>ACTION PLAN POST 5G  INSIGHTS</vt:lpstr>
      <vt:lpstr>PLAN Performance  POST 5G</vt:lpstr>
      <vt:lpstr>PLAN Performance  </vt:lpstr>
      <vt:lpstr>POST 5G  PLAN STRATEGY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Kumar Sahoo</dc:creator>
  <cp:lastModifiedBy>Prashant Kumar Sahoo</cp:lastModifiedBy>
  <cp:revision>65</cp:revision>
  <dcterms:created xsi:type="dcterms:W3CDTF">2026-03-13T07:51:50Z</dcterms:created>
  <dcterms:modified xsi:type="dcterms:W3CDTF">2026-03-14T05:07:52Z</dcterms:modified>
</cp:coreProperties>
</file>